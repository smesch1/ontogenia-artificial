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 ·  NLP  ·  UDESA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Ontogenia Artificial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FE7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Trayectorias de adquisición sintáctica en Pythia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EFE7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su alineación con la adquisición humana del lenguaje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731520" cy="36576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Mesch Henriques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Miguel Carcagno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Alejandro Cabaña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4114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San Andrés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</a:t>
            </a:r>
            <a:endParaRPr lang="en-US" sz="1300" dirty="0"/>
          </a:p>
          <a:p>
            <a:pPr algn="r" indent="0" marL="0">
              <a:buNone/>
            </a:pPr>
            <a:r>
              <a:rPr lang="en-US" sz="130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D9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· 10 minutos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emergen las capacidades sintácticas?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128016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1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¿Las trayectorias de adquisición sintáctica de Pythia son </a:t>
            </a:r>
            <a:pPr indent="0" marL="0">
              <a:buNone/>
            </a:pPr>
            <a:r>
              <a:rPr lang="en-US" sz="19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no-monótonas</a:t>
            </a:r>
            <a:pPr indent="0" marL="0">
              <a:buNone/>
            </a:pPr>
            <a:r>
              <a:rPr lang="en-US" sz="1900" i="1" dirty="0">
                <a:solidFill>
                  <a:srgbClr val="11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nivel de paradigma individual, y el orden de emergencia correlaciona con la </a:t>
            </a:r>
            <a:pPr indent="0" marL="0">
              <a:buNone/>
            </a:pPr>
            <a:r>
              <a:rPr lang="en-US" sz="19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 de adquisición humana</a:t>
            </a:r>
            <a:pPr indent="0" marL="0">
              <a:buNone/>
            </a:pPr>
            <a:r>
              <a:rPr lang="en-US" sz="1900" i="1" dirty="0">
                <a:solidFill>
                  <a:srgbClr val="11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36576" cy="146304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74720"/>
            <a:ext cx="331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Promediar oculta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3317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accuracy del checkpoint final no distingue trayectorias monótonas de curvas en 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8698" y="3474720"/>
            <a:ext cx="36576" cy="146304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2" name="Text 10"/>
          <p:cNvSpPr/>
          <p:nvPr/>
        </p:nvSpPr>
        <p:spPr>
          <a:xfrm>
            <a:off x="4505858" y="3474720"/>
            <a:ext cx="331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Niños no aprenden lineal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5858" y="3886200"/>
            <a:ext cx="3317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→ goed → went: sobre-regularización clásica de la psicolingüística del desarrollo.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7317" y="3474720"/>
            <a:ext cx="36576" cy="146304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5" name="Text 13"/>
          <p:cNvSpPr/>
          <p:nvPr/>
        </p:nvSpPr>
        <p:spPr>
          <a:xfrm>
            <a:off x="8234477" y="3474720"/>
            <a:ext cx="331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el puente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4477" y="3886200"/>
            <a:ext cx="3317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de LLMs no son comparables con los datos longitudinales de adquisición humana.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Interpretability  ·  Kendiukhov (2025)  ·  Bunzeck &amp; Zarrieß (2024)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MARCO TEÓRICO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curva en U como firma del aprendizaje por estructura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fases en niños angloparlantes (Marcus et al., 1992):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Memorización temprana — 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producen </a:t>
            </a:r>
            <a:pPr indent="0" marL="0">
              <a:buNone/>
            </a:pPr>
            <a:r>
              <a:rPr lang="en-US" sz="1300" i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ítem aislado.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Sobre-regularización — 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 la regla </a:t>
            </a:r>
            <a:pPr indent="0" marL="0">
              <a:buNone/>
            </a:pPr>
            <a:r>
              <a:rPr lang="en-US" sz="1300" i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verbo+ed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producen </a:t>
            </a:r>
            <a:pPr indent="0" marL="0">
              <a:buNone/>
            </a:pPr>
            <a:r>
              <a:rPr lang="en-US" sz="1300" i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goed, wented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Dominio maduro — 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reconcilian regla y excepciones, recuperan </a:t>
            </a:r>
            <a:pPr indent="0" marL="0">
              <a:buNone/>
            </a:pPr>
            <a:r>
              <a:rPr lang="en-US" sz="1300" i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lexicalizado.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5486400" cy="15544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B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analogía en Pythia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«edad del niño» por «training step» y «producir went» por accuracy en pares mínimos. Si el mecanismo es análogo, esperamos ver caídas y recuperaciones en paradigmas con excepciones morfológicas.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737360"/>
            <a:ext cx="5029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en U — esquema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4937760"/>
            <a:ext cx="4206240" cy="0"/>
          </a:xfrm>
          <a:prstGeom prst="line">
            <a:avLst/>
          </a:prstGeom>
          <a:noFill/>
          <a:ln w="12700">
            <a:solidFill>
              <a:srgbClr val="5F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2468880"/>
            <a:ext cx="0" cy="2468880"/>
          </a:xfrm>
          <a:prstGeom prst="line">
            <a:avLst/>
          </a:prstGeom>
          <a:noFill/>
          <a:ln w="12700">
            <a:solidFill>
              <a:srgbClr val="5F6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3703320"/>
            <a:ext cx="4206240" cy="0"/>
          </a:xfrm>
          <a:prstGeom prst="line">
            <a:avLst/>
          </a:prstGeom>
          <a:noFill/>
          <a:ln w="9525">
            <a:solidFill>
              <a:srgbClr val="5F647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149840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(0.5)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 flipV="1">
            <a:off x="7040880" y="3407054"/>
            <a:ext cx="420624" cy="172822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461504" y="3012034"/>
            <a:ext cx="420624" cy="395021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7882128" y="2839212"/>
            <a:ext cx="504749" cy="172822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6877" y="2839212"/>
            <a:ext cx="546811" cy="370332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33688" y="3209544"/>
            <a:ext cx="420624" cy="370332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54312" y="3579876"/>
            <a:ext cx="294437" cy="172822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648749" y="3407054"/>
            <a:ext cx="420624" cy="345643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069373" y="2913278"/>
            <a:ext cx="546811" cy="493776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616184" y="2666390"/>
            <a:ext cx="630936" cy="246888"/>
          </a:xfrm>
          <a:prstGeom prst="line">
            <a:avLst/>
          </a:prstGeom>
          <a:noFill/>
          <a:ln w="31750">
            <a:solidFill>
              <a:srgbClr val="B89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memorización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02752" y="31683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sobre-regularización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69373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recuperación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 rot="16200000">
            <a:off x="653796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5257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steps (log)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HIPÓTESIS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predicciones falsables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45429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No-monotonicidad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37560"/>
            <a:ext cx="2997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≥30% de los paradigmas BLiMP exhiben caídas ≥5 pp seguidas de recuperación.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530352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no monótonos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5669280"/>
            <a:ext cx="2997098" cy="18288"/>
          </a:xfrm>
          <a:prstGeom prst="rect">
            <a:avLst/>
          </a:prstGeom>
          <a:solidFill>
            <a:srgbClr val="EFE7D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733288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binomial vs H₀ = 20%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68698" y="1783080"/>
            <a:ext cx="345429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8698" y="1783080"/>
            <a:ext cx="345429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7" name="Text 15"/>
          <p:cNvSpPr/>
          <p:nvPr/>
        </p:nvSpPr>
        <p:spPr>
          <a:xfrm>
            <a:off x="4597298" y="20116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97298" y="26974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humana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97298" y="320040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0" name="Text 18"/>
          <p:cNvSpPr/>
          <p:nvPr/>
        </p:nvSpPr>
        <p:spPr>
          <a:xfrm>
            <a:off x="4597298" y="3337560"/>
            <a:ext cx="2997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ranking de estabilización en Pythia correlaciona con la AoA humana (Wordbank + literatura).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7298" y="461772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&gt; 0.3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97298" y="530352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Spearman, p &lt; 0.05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97298" y="5669280"/>
            <a:ext cx="2997098" cy="18288"/>
          </a:xfrm>
          <a:prstGeom prst="rect">
            <a:avLst/>
          </a:prstGeom>
          <a:solidFill>
            <a:srgbClr val="EFE7D2"/>
          </a:solidFill>
          <a:ln/>
        </p:spPr>
      </p:sp>
      <p:sp>
        <p:nvSpPr>
          <p:cNvPr id="24" name="Text 22"/>
          <p:cNvSpPr/>
          <p:nvPr/>
        </p:nvSpPr>
        <p:spPr>
          <a:xfrm>
            <a:off x="4597298" y="5733288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N=10 000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7317" y="1783080"/>
            <a:ext cx="345429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7317" y="1783080"/>
            <a:ext cx="345429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7" name="Text 25"/>
          <p:cNvSpPr/>
          <p:nvPr/>
        </p:nvSpPr>
        <p:spPr>
          <a:xfrm>
            <a:off x="8325917" y="20116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325917" y="26974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Excepciones morfológicas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325917" y="320040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0" name="Text 28"/>
          <p:cNvSpPr/>
          <p:nvPr/>
        </p:nvSpPr>
        <p:spPr>
          <a:xfrm>
            <a:off x="8325917" y="3337560"/>
            <a:ext cx="2997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curvas en U son más profundas en paradigmas con excepciones morfológicas que en estructurales.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5917" y="461772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d̄_M &gt; d̄_S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325917" y="530352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media de valle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5917" y="5669280"/>
            <a:ext cx="2997098" cy="18288"/>
          </a:xfrm>
          <a:prstGeom prst="rect">
            <a:avLst/>
          </a:prstGeom>
          <a:solidFill>
            <a:srgbClr val="EFE7D2"/>
          </a:solidFill>
          <a:ln/>
        </p:spPr>
      </p:sp>
      <p:sp>
        <p:nvSpPr>
          <p:cNvPr id="34" name="Text 32"/>
          <p:cNvSpPr/>
          <p:nvPr/>
        </p:nvSpPr>
        <p:spPr>
          <a:xfrm>
            <a:off x="8325917" y="5733288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(unilateral)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y grilla de checkpoints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Pythia (EleutherAI, 2023)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tamaños deduplicados: </a:t>
            </a:r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 · 160M · 410M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parámetros.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checkpoints públicos, orden de datos congelado → análisis longitudinal limpio.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vía </a:t>
            </a:r>
            <a:pPr indent="0" marL="0">
              <a:buNone/>
            </a:pPr>
            <a:r>
              <a:rPr lang="en-US" sz="1300" i="1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revision=stepN</a:t>
            </a:r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HuggingFace.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checkpoints log-espaciados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0, 1, 2, 4, 8, 16, 32, 64, 128, 256, 512,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1k, 2k, 4k, 8k, 16k, 32k, 48k, 64k, 80k,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96k, 112k, 128k, 143k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Densos en fase temprana (potencias de 2), lineales en fase tardía.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737360"/>
            <a:ext cx="5029200" cy="438912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920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9B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Grilla experimental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237744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(14M · 160M · 410M)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3017520"/>
            <a:ext cx="4480560" cy="9144"/>
          </a:xfrm>
          <a:prstGeom prst="rect">
            <a:avLst/>
          </a:prstGeom>
          <a:solidFill>
            <a:srgbClr val="2C3F65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por modelo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3566160"/>
            <a:ext cx="4480560" cy="9144"/>
          </a:xfrm>
          <a:prstGeom prst="rect">
            <a:avLst/>
          </a:prstGeom>
          <a:solidFill>
            <a:srgbClr val="2C3F65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BLiMP — 67 paradigmas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4114800"/>
            <a:ext cx="4480560" cy="9144"/>
          </a:xfrm>
          <a:prstGeom prst="rect">
            <a:avLst/>
          </a:prstGeom>
          <a:solidFill>
            <a:srgbClr val="2C3F65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mín.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0" y="4206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1 000 por paradigma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4663440"/>
            <a:ext cx="4480560" cy="9144"/>
          </a:xfrm>
          <a:prstGeom prst="rect">
            <a:avLst/>
          </a:prstGeom>
          <a:solidFill>
            <a:srgbClr val="2C3F6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0" y="4754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(3 × 24) · 4 899 filas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5212080"/>
            <a:ext cx="4480560" cy="9144"/>
          </a:xfrm>
          <a:prstGeom prst="rect">
            <a:avLst/>
          </a:prstGeom>
          <a:solidFill>
            <a:srgbClr val="2C3F65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5303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lm-evaluation-harness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Métrica: Accuracy de pares mínimos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 principal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par mínimo (oración gramatical vs. agramatical), se computa la log-probabilidad bajo el modelo y se cuenta como acierto si log P(gramatical) &gt; log P(agramatical).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91153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200400"/>
            <a:ext cx="73152" cy="137160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 Accuracy   (BLiMP estándar)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Acc(p)  =  </a:t>
            </a:r>
            <a:pPr algn="ctr" indent="0" marL="0">
              <a:buNone/>
            </a:pPr>
            <a:r>
              <a:rPr lang="en-US" sz="2200" dirty="0">
                <a:solidFill>
                  <a:srgbClr val="5F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</a:t>
            </a:r>
            <a:pPr algn="ctr" indent="0" marL="0">
              <a:buNone/>
            </a:pPr>
            <a:r>
              <a:rPr lang="en-US" sz="28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∑ </a:t>
            </a:r>
            <a:pPr algn="ctr" indent="0" marL="0">
              <a:buNone/>
            </a:pPr>
            <a:r>
              <a:rPr lang="en-US" sz="26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𝟙</a:t>
            </a:r>
            <a:pPr algn="ctr" indent="0" marL="0">
              <a:buNone/>
            </a:pPr>
            <a:r>
              <a:rPr lang="en-US" sz="22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log P(s</a:t>
            </a:r>
            <a:pPr algn="ctr" indent="0" marL="0">
              <a:buNone/>
            </a:pPr>
            <a:r>
              <a:rPr lang="en-US" sz="1400" baseline="30000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pPr algn="ctr" indent="0" marL="0">
              <a:buNone/>
            </a:pPr>
            <a:r>
              <a:rPr lang="en-US" sz="22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&gt; log P(s</a:t>
            </a:r>
            <a:pPr algn="ctr" indent="0" marL="0">
              <a:buNone/>
            </a:pPr>
            <a:r>
              <a:rPr lang="en-US" sz="1400" baseline="30000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pPr algn="ctr" indent="0" marL="0">
              <a:buNone/>
            </a:pPr>
            <a:r>
              <a:rPr lang="en-US" sz="22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]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36576" cy="10972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37760"/>
            <a:ext cx="3378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accuracy de pares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3378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intra-par neutraliza el sesgo de longitud — ambas oraciones del par tienen estructura comparable.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8218" y="4937760"/>
            <a:ext cx="36576" cy="10972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5" name="Text 13"/>
          <p:cNvSpPr/>
          <p:nvPr/>
        </p:nvSpPr>
        <p:spPr>
          <a:xfrm>
            <a:off x="4475378" y="4937760"/>
            <a:ext cx="3378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topológica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75378" y="5303520"/>
            <a:ext cx="3378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Polinomio grado 5 sobre las 24 mediciones en log-step; valle ≥ 5 pp y mínimo antes del máximo final.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36357" y="4937760"/>
            <a:ext cx="36576" cy="10972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8" name="Text 16"/>
          <p:cNvSpPr/>
          <p:nvPr/>
        </p:nvSpPr>
        <p:spPr>
          <a:xfrm>
            <a:off x="8173517" y="4937760"/>
            <a:ext cx="3378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estadísticos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73517" y="5303520"/>
            <a:ext cx="3378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N=10 000 para CI de Spearman (H2). Mann-Whitney U unilateral para profundidad de valles (H3).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humana: mapeo bifásico (aporte metodológico)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bibliografía no provee un mapeo sistemático para los 67 paradigmas de BLiMP. Construimos uno propio en dos fases.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7288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5272888" cy="73152"/>
          </a:xfrm>
          <a:prstGeom prst="rect">
            <a:avLst/>
          </a:prstGeom>
          <a:solidFill>
            <a:srgbClr val="5F647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1460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Mapeo Original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Correspondencias léxicas estrictas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33756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Wordbank (Frank et al., 2017)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1973 · Marcus 1992 · Wexler 1994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paradigmas mapeados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alta/media confianza  ·  46 baja confianza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5166360"/>
            <a:ext cx="4724248" cy="18288"/>
          </a:xfrm>
          <a:prstGeom prst="rect">
            <a:avLst/>
          </a:prstGeom>
          <a:solidFill>
            <a:srgbClr val="EFE7D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3035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confianza media/alta  =  </a:t>
            </a:r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728" y="2331720"/>
            <a:ext cx="527288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4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8728" y="2331720"/>
            <a:ext cx="527288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5" name="Text 13"/>
          <p:cNvSpPr/>
          <p:nvPr/>
        </p:nvSpPr>
        <p:spPr>
          <a:xfrm>
            <a:off x="6553048" y="251460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Mapeo Refinado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53048" y="292608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experto · literatura 2020+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0208" y="333756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pasiva temprana (visual tasks)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A 48–60 m  ·  pasivas 48 vs 60 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de animacidad y agente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Elipsis N-bar contextual (54 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Wh-objeto asimetría procesamiento (48 m)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3048" y="5166360"/>
            <a:ext cx="4724248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9" name="Text 17"/>
          <p:cNvSpPr/>
          <p:nvPr/>
        </p:nvSpPr>
        <p:spPr>
          <a:xfrm>
            <a:off x="6553048" y="53035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confianza media/alta  =  </a:t>
            </a:r>
            <a:pPr indent="0" marL="0">
              <a:buNone/>
            </a:pPr>
            <a:r>
              <a:rPr lang="en-US" sz="1800" b="1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· La no-monotonicidad es la norma, no la excepción</a:t>
            </a:r>
            <a:endParaRPr lang="en-US" sz="3000" dirty="0"/>
          </a:p>
        </p:txBody>
      </p:sp>
      <p:pic>
        <p:nvPicPr>
          <p:cNvPr id="5" name="Image 0" descr="assets/fig3_top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67665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Paradigmas no monótonos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89520" y="210312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Pythia-14M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2560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76,1%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58952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Pythia-160M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3520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85,1%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58952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Pythia-410M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4480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91,0%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7589520" y="5212080"/>
            <a:ext cx="3931920" cy="960120"/>
          </a:xfrm>
          <a:prstGeom prst="rect">
            <a:avLst/>
          </a:prstGeom>
          <a:solidFill>
            <a:srgbClr val="3F7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5303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confirmada.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30% superado en los 3 modelos.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· Trayectorias por paradigma (BLiMP)</a:t>
            </a:r>
            <a:endParaRPr lang="en-US" sz="3000" dirty="0"/>
          </a:p>
        </p:txBody>
      </p:sp>
      <p:pic>
        <p:nvPicPr>
          <p:cNvPr id="5" name="Image 0" descr="assets/fig1_trajecto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868680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509760" y="210312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8" name="Text 5"/>
          <p:cNvSpPr/>
          <p:nvPr/>
        </p:nvSpPr>
        <p:spPr>
          <a:xfrm>
            <a:off x="9509760" y="2240280"/>
            <a:ext cx="2286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past participle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pronunciada hacia step 64–128 y recuperación tardía: la firma morfológica esperada.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Det/N agreement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casi monótona: la regla estructural se consolida sin sobre-regularización.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Wh-questions object gap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Oscilatoria en 410M: dependencia de largo alcance, ruido en checkpoints tardíos.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· Análisis de sensibilidad del mapeo humano</a:t>
            </a:r>
            <a:endParaRPr lang="en-US" sz="3000" dirty="0"/>
          </a:p>
        </p:txBody>
      </p:sp>
      <p:pic>
        <p:nvPicPr>
          <p:cNvPr id="5" name="Image 0" descr="assets/fig2_human_alignment_160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50292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Pythia-160M ↔ AoA (mapeo original)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69164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ρ por mapeo y modelo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205740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0" y="2240280"/>
            <a:ext cx="5608015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5097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743200"/>
            <a:ext cx="524225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Pythia-160M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5F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−0,180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955280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5097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+0,169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509760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64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Pythia-410M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5528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5F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≈ 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955280" y="3886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50976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+0,118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09760" y="3886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n=62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943600" y="4617720"/>
            <a:ext cx="5608015" cy="173736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25" name="Shape 22"/>
          <p:cNvSpPr/>
          <p:nvPr/>
        </p:nvSpPr>
        <p:spPr>
          <a:xfrm>
            <a:off x="5943600" y="4617720"/>
            <a:ext cx="5608015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6" name="Text 23"/>
          <p:cNvSpPr/>
          <p:nvPr/>
        </p:nvSpPr>
        <p:spPr>
          <a:xfrm>
            <a:off x="6126480" y="4754880"/>
            <a:ext cx="5242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confirmada parcialmente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núcleo computacional-sintáctico.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refinamiento metodológico revierte el signo y revela alineación humano-modelo coherente con literatura contemporánea (2020+).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 · Profundidad de valle por tipo de paradigma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(unilateral, M &gt; S)  ·  significativo en los dos modelos grandes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72888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27288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Pythia-160M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Morfológicos (M)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0,437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d̄_M  ·  n = 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76524" y="297180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Estructurales (S)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76524" y="324612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0,349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76524" y="379476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d̄_S  ·  n = 43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4724248" cy="18288"/>
          </a:xfrm>
          <a:prstGeom prst="rect">
            <a:avLst/>
          </a:prstGeom>
          <a:solidFill>
            <a:srgbClr val="EFE7D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250.0    </a:t>
            </a:r>
            <a:pPr indent="0" marL="0">
              <a:buNone/>
            </a:pPr>
            <a:r>
              <a:rPr lang="en-US" sz="1200" b="1" dirty="0">
                <a:solidFill>
                  <a:srgbClr val="3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0,0216</a:t>
            </a:r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(p &lt; 0,05)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8728" y="2194560"/>
            <a:ext cx="5272888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8728" y="2194560"/>
            <a:ext cx="527288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9" name="Text 17"/>
          <p:cNvSpPr/>
          <p:nvPr/>
        </p:nvSpPr>
        <p:spPr>
          <a:xfrm>
            <a:off x="6553048" y="237744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Pythia-410M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53048" y="297180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Morfológicos (M)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53048" y="324612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9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0,482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53048" y="379476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d̄_M  ·  n = 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15171" y="297180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Estructurales (S)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171" y="3246120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915171" y="379476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d̄_S  ·  n = 43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53048" y="4114800"/>
            <a:ext cx="4724248" cy="18288"/>
          </a:xfrm>
          <a:prstGeom prst="rect">
            <a:avLst/>
          </a:prstGeom>
          <a:solidFill>
            <a:srgbClr val="EFE7D2"/>
          </a:solidFill>
          <a:ln/>
        </p:spPr>
      </p:sp>
      <p:sp>
        <p:nvSpPr>
          <p:cNvPr id="27" name="Text 25"/>
          <p:cNvSpPr/>
          <p:nvPr/>
        </p:nvSpPr>
        <p:spPr>
          <a:xfrm>
            <a:off x="6553048" y="420624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300.0    </a:t>
            </a:r>
            <a:pPr indent="0" marL="0">
              <a:buNone/>
            </a:pPr>
            <a:r>
              <a:rPr lang="en-US" sz="1200" b="1" dirty="0">
                <a:solidFill>
                  <a:srgbClr val="3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0,0030</a:t>
            </a:r>
            <a:pPr indent="0" marL="0">
              <a:buNone/>
            </a:pPr>
            <a:r>
              <a:rPr lang="en-US" sz="10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(p &lt; 0,01)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solidFill>
            <a:srgbClr val="3F7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937760"/>
            <a:ext cx="10911535" cy="73152"/>
          </a:xfrm>
          <a:prstGeom prst="rect">
            <a:avLst/>
          </a:prstGeom>
          <a:solidFill>
            <a:srgbClr val="D9BC6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2920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plenamente confirmada.</a:t>
            </a:r>
            <a:endParaRPr lang="en-US" sz="1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irregularidad morfológica produce valles significativamente más profundos — consistente con la hipótesis conexionista de reorganización representacional (Marcus et al., 1992).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86868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DISCUSIÓN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Aportes y limitaciones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Aportes principales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5429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45429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2316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Topología sistemática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análisis longitudinal de los 67 paradigmas BLiMP × 24 checkpoints × 3 tamaños de Pythia (72 evaluaciones).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8698" y="2194560"/>
            <a:ext cx="345429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8698" y="2194560"/>
            <a:ext cx="345429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2" name="Text 10"/>
          <p:cNvSpPr/>
          <p:nvPr/>
        </p:nvSpPr>
        <p:spPr>
          <a:xfrm>
            <a:off x="4597298" y="242316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AoA bifásica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7298" y="288036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Original + Refinado (criterio experto 2020+) para los 67 paradigmas — recurso público abierto.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7317" y="2194560"/>
            <a:ext cx="345429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B2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7317" y="2194560"/>
            <a:ext cx="3454298" cy="73152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6" name="Text 14"/>
          <p:cNvSpPr/>
          <p:nvPr/>
        </p:nvSpPr>
        <p:spPr>
          <a:xfrm>
            <a:off x="8325917" y="242316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 morfológica robusta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5917" y="288036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significativo (p=0,003 en 410M) entre profundidad de valle de irregulares vs estructurales.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discriminativa: BLiMP mide juicios de aceptabilidad, no producción libre.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divergente: Pythia entrena en The Pile (adulto), niños reciben CDS dirigido al niño.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1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 empírico en sintaxis abstracta: islas, NPI dominio-no-local sin estudios cuantitativos directos de AoA.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Ontogenia Artificial  ·  UDESA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92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hallazgos, tres caminos.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731520" cy="36576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86000"/>
            <a:ext cx="3291840" cy="2468880"/>
          </a:xfrm>
          <a:prstGeom prst="rect">
            <a:avLst/>
          </a:prstGeom>
          <a:solidFill>
            <a:srgbClr val="2C3F65"/>
          </a:solidFill>
          <a:ln w="6350">
            <a:solidFill>
              <a:srgbClr val="B895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86000"/>
            <a:ext cx="3291840" cy="73152"/>
          </a:xfrm>
          <a:prstGeom prst="rect">
            <a:avLst/>
          </a:prstGeom>
          <a:solidFill>
            <a:srgbClr val="3F7A4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9B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– 91%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143000" y="384048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no-monotonicidad es prevalente en los tres tamaños. La fenomenología en U es la regla del aprendizaje por gradiente.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3291840" cy="2468880"/>
          </a:xfrm>
          <a:prstGeom prst="rect">
            <a:avLst/>
          </a:prstGeom>
          <a:solidFill>
            <a:srgbClr val="2C3F65"/>
          </a:solidFill>
          <a:ln w="6350">
            <a:solidFill>
              <a:srgbClr val="B89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286000"/>
            <a:ext cx="3291840" cy="73152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9B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(refinada)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+0,169 / +0,118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709160" y="384048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mapeo refinado por criterio experto contemporáneo revela alineación humano-modelo en el núcleo sintáctico.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286000"/>
            <a:ext cx="3291840" cy="2468880"/>
          </a:xfrm>
          <a:prstGeom prst="rect">
            <a:avLst/>
          </a:prstGeom>
          <a:solidFill>
            <a:srgbClr val="2C3F65"/>
          </a:solidFill>
          <a:ln w="6350">
            <a:solidFill>
              <a:srgbClr val="B895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286000"/>
            <a:ext cx="3291840" cy="73152"/>
          </a:xfrm>
          <a:prstGeom prst="rect">
            <a:avLst/>
          </a:prstGeom>
          <a:solidFill>
            <a:srgbClr val="3F7A4A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9B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7532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532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0,003 (410M)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275320" y="3840480"/>
            <a:ext cx="457200" cy="18288"/>
          </a:xfrm>
          <a:prstGeom prst="rect">
            <a:avLst/>
          </a:prstGeom>
          <a:solidFill>
            <a:srgbClr val="B89548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irregulares morfológicos exhiben valles significativamente más profundos — Mann-Whitney U bilateral confirmatorio.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D9B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5349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sobre CHILDES / BabyLM (curriculum infantil)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AoA basado en comprensión sintáctica (no producción léxica)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F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Zorro (vocabulario controlado) y SAEs para análisis representacional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D9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Mesch Henriques  ·  Carcagno  ·  Cabaña    ·    UDESA 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Ontogenia Artificial</dc:title>
  <dc:subject>Research Project NLP — UDESA 2026</dc:subject>
  <dc:creator>Sebastián Mesch Henriques</dc:creator>
  <cp:lastModifiedBy>Sebastián Mesch Henriques</cp:lastModifiedBy>
  <cp:revision>1</cp:revision>
  <dcterms:created xsi:type="dcterms:W3CDTF">2026-05-26T03:03:27Z</dcterms:created>
  <dcterms:modified xsi:type="dcterms:W3CDTF">2026-05-26T03:03:27Z</dcterms:modified>
</cp:coreProperties>
</file>